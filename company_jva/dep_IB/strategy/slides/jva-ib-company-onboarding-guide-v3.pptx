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8872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JVA Internship Board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Company Onboarding Guide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How to partner with us and what to expect</a:t>
            </a:r>
            <a:endParaRPr lang="en-US" sz="1300" dirty="0"/>
          </a:p>
        </p:txBody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is JVA IB?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845820" y="1143000"/>
            <a:ext cx="1600200" cy="1600200"/>
          </a:xfrm>
          <a:prstGeom prst="ellipse">
            <a:avLst/>
          </a:prstGeom>
          <a:solidFill>
            <a:srgbClr val="BE1229">
              <a:alpha val="80000"/>
            </a:srgbClr>
          </a:solidFill>
          <a:ln w="25400">
            <a:solidFill>
              <a:srgbClr val="BE122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8288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Global Students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82880" y="3429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English-proficient interns from top universities in Japan. Business~Native English, beginner Japanese (N3–N5).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3200400" y="1851660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3200400" y="24917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Match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697980" y="1143000"/>
            <a:ext cx="1600200" cy="1600200"/>
          </a:xfrm>
          <a:prstGeom prst="ellipse">
            <a:avLst/>
          </a:prstGeom>
          <a:solidFill>
            <a:srgbClr val="8C0D1E">
              <a:alpha val="80000"/>
            </a:srgbClr>
          </a:solidFill>
          <a:ln w="25400">
            <a:solidFill>
              <a:srgbClr val="8C0D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292608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Startups &amp; Companies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035040" y="3429000"/>
            <a:ext cx="29260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Early-stage startups seeking global talent. Free job listing, no hiring fees.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Flow — 7 Steps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7505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9" name="Text 6"/>
          <p:cNvSpPr/>
          <p:nvPr/>
        </p:nvSpPr>
        <p:spPr>
          <a:xfrm>
            <a:off x="7505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13461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05054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743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shows interest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743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14" name="Shape 11"/>
          <p:cNvSpPr/>
          <p:nvPr/>
        </p:nvSpPr>
        <p:spPr>
          <a:xfrm>
            <a:off x="220599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220599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259003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0596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72974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Schedule a meeting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72974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0" name="Shape 17"/>
          <p:cNvSpPr/>
          <p:nvPr/>
        </p:nvSpPr>
        <p:spPr>
          <a:xfrm>
            <a:off x="366141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366141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04545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6138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318516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IB platform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18516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26" name="Shape 23"/>
          <p:cNvSpPr/>
          <p:nvPr/>
        </p:nvSpPr>
        <p:spPr>
          <a:xfrm>
            <a:off x="511683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7" name="Text 24"/>
          <p:cNvSpPr/>
          <p:nvPr/>
        </p:nvSpPr>
        <p:spPr>
          <a:xfrm>
            <a:off x="511683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50087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1680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464058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agrees to list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64058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2" name="Shape 29"/>
          <p:cNvSpPr/>
          <p:nvPr/>
        </p:nvSpPr>
        <p:spPr>
          <a:xfrm>
            <a:off x="657225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3" name="Text 30"/>
          <p:cNvSpPr/>
          <p:nvPr/>
        </p:nvSpPr>
        <p:spPr>
          <a:xfrm>
            <a:off x="657225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6956298" y="1234440"/>
            <a:ext cx="1053084" cy="0"/>
          </a:xfrm>
          <a:prstGeom prst="line">
            <a:avLst/>
          </a:prstGeom>
          <a:noFill/>
          <a:ln w="19050">
            <a:solidFill>
              <a:srgbClr val="BE1229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872222" y="1124712"/>
            <a:ext cx="182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E1229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▶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609600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Job Card Form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9600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  <p:sp>
        <p:nvSpPr>
          <p:cNvPr id="38" name="Shape 35"/>
          <p:cNvSpPr/>
          <p:nvPr/>
        </p:nvSpPr>
        <p:spPr>
          <a:xfrm>
            <a:off x="8027670" y="1051560"/>
            <a:ext cx="365760" cy="365760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39" name="Text 36"/>
          <p:cNvSpPr/>
          <p:nvPr/>
        </p:nvSpPr>
        <p:spPr>
          <a:xfrm>
            <a:off x="802767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7551420" y="1527048"/>
            <a:ext cx="1318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IB creates Job Card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7551420" y="2029968"/>
            <a:ext cx="1318260" cy="2011680"/>
          </a:xfrm>
          <a:prstGeom prst="roundRect">
            <a:avLst>
              <a:gd name="adj" fmla="val 4162"/>
            </a:avLst>
          </a:prstGeom>
          <a:solidFill>
            <a:srgbClr val="FAF5F5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Guide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1: Meeting — What to Cover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432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27432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3200" dirty="0"/>
          </a:p>
        </p:txBody>
      </p:sp>
      <p:sp>
        <p:nvSpPr>
          <p:cNvPr id="12" name="Text 9"/>
          <p:cNvSpPr/>
          <p:nvPr/>
        </p:nvSpPr>
        <p:spPr>
          <a:xfrm>
            <a:off x="41148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Introduce IB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1148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Explain how the platform works — free listing, LINE distribution, global student pool.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48031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8031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16" name="Text 13"/>
          <p:cNvSpPr/>
          <p:nvPr/>
        </p:nvSpPr>
        <p:spPr>
          <a:xfrm>
            <a:off x="248031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3200" dirty="0"/>
          </a:p>
        </p:txBody>
      </p:sp>
      <p:sp>
        <p:nvSpPr>
          <p:cNvPr id="17" name="Text 14"/>
          <p:cNvSpPr/>
          <p:nvPr/>
        </p:nvSpPr>
        <p:spPr>
          <a:xfrm>
            <a:off x="261747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Student Profile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61747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English-focused, top universities, beginner Japanese. 46+ students registered.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68630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8630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1" name="Text 18"/>
          <p:cNvSpPr/>
          <p:nvPr/>
        </p:nvSpPr>
        <p:spPr>
          <a:xfrm>
            <a:off x="468630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19"/>
          <p:cNvSpPr/>
          <p:nvPr/>
        </p:nvSpPr>
        <p:spPr>
          <a:xfrm>
            <a:off x="482346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Realistic Requirements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2346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15–25h/week, N3 or lower Japanese, remote-friendly. Increases match rate significantly.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892290" y="1005840"/>
            <a:ext cx="1977390" cy="3474720"/>
          </a:xfrm>
          <a:prstGeom prst="roundRect">
            <a:avLst>
              <a:gd name="adj" fmla="val 2775"/>
            </a:avLst>
          </a:prstGeom>
          <a:solidFill>
            <a:srgbClr val="FFFFFF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92290" y="1005840"/>
            <a:ext cx="1977390" cy="91440"/>
          </a:xfrm>
          <a:prstGeom prst="roundRect">
            <a:avLst>
              <a:gd name="adj" fmla="val 60000"/>
            </a:avLst>
          </a:prstGeom>
          <a:solidFill>
            <a:srgbClr val="BE1229"/>
          </a:solidFill>
          <a:ln/>
        </p:spPr>
      </p:sp>
      <p:sp>
        <p:nvSpPr>
          <p:cNvPr id="26" name="Text 23"/>
          <p:cNvSpPr/>
          <p:nvPr/>
        </p:nvSpPr>
        <p:spPr>
          <a:xfrm>
            <a:off x="6892290" y="1143000"/>
            <a:ext cx="197739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3200" dirty="0"/>
          </a:p>
        </p:txBody>
      </p:sp>
      <p:sp>
        <p:nvSpPr>
          <p:cNvPr id="27" name="Text 24"/>
          <p:cNvSpPr/>
          <p:nvPr/>
        </p:nvSpPr>
        <p:spPr>
          <a:xfrm>
            <a:off x="7029450" y="1828800"/>
            <a:ext cx="170307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Rules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029450" y="2377440"/>
            <a:ext cx="170307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4-business-day response SLA. Get verbal agreement before moving to next step.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2: Job Card Form — Key Fields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27432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Company Info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6576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7432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name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Contact person &amp; email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1148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Position title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20040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329184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0040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83280" y="1691640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English level (Business / Native / Not required)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3337560" y="2295144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83280" y="2295144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Japanese level (N3+ / Not required)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337560" y="2898648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0" y="2898648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Weekly hours (recommend 15–25h)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337560" y="3502152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83280" y="3502152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Location (Remote / Hybrid / In-person)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337560" y="4105656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83280" y="4105656"/>
            <a:ext cx="2377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Work authorization required?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126480" y="10515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Role Details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6217920" y="1536192"/>
            <a:ext cx="246888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126480" y="1691640"/>
            <a:ext cx="2651760" cy="3017520"/>
          </a:xfrm>
          <a:prstGeom prst="rect">
            <a:avLst>
              <a:gd name="adj" fmla="val 2069"/>
            </a:avLst>
          </a:prstGeom>
          <a:solidFill>
            <a:srgbClr val="FAF5F5"/>
          </a:solidFill>
          <a:ln w="6350">
            <a:solidFill>
              <a:srgbClr val="EDDFDF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309360" y="169164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Compensation (¥/h or monthly)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263640" y="269748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09360" y="26974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Key responsibilities (3–5 bullets)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6263640" y="3703320"/>
            <a:ext cx="2377440" cy="0"/>
          </a:xfrm>
          <a:prstGeom prst="line">
            <a:avLst/>
          </a:prstGeom>
          <a:noFill/>
          <a:ln w="6350">
            <a:solidFill>
              <a:srgbClr val="EDDFDF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370332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Ideal candidate profile (2–3 sentences)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Requirements for High Match Rate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05840"/>
          <a:ext cx="859536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Low Match Rate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5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High Match Rate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Weekly hours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35–40h/week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15–25h/week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Japanese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Business level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N3 or lower / Not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Location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Tokyo in-person only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Remote-friendly or Hybrid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Experience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0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2+ years required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Entry-level to intermediate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Step-by-Step Guide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 3: Job Card Creation &amp; Distribution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82880" y="1051560"/>
            <a:ext cx="277368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182880" y="2050085"/>
            <a:ext cx="27736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Job Card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0248" y="2622499"/>
            <a:ext cx="2218944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2741371"/>
            <a:ext cx="2773680" cy="183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Build Job Card from form responses. Review for accuracy and match potential.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185160" y="1051560"/>
            <a:ext cx="277368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1"/>
          <p:cNvSpPr/>
          <p:nvPr/>
        </p:nvSpPr>
        <p:spPr>
          <a:xfrm>
            <a:off x="3185160" y="2050085"/>
            <a:ext cx="27736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&amp; Approve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62528" y="2622499"/>
            <a:ext cx="2218944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85160" y="2741371"/>
            <a:ext cx="2773680" cy="183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Check requirements are realistic. Confirm company contact details are correct.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187440" y="1051560"/>
            <a:ext cx="2773680" cy="9985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9ECE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5600" dirty="0"/>
          </a:p>
        </p:txBody>
      </p:sp>
      <p:sp>
        <p:nvSpPr>
          <p:cNvPr id="18" name="Text 15"/>
          <p:cNvSpPr/>
          <p:nvPr/>
        </p:nvSpPr>
        <p:spPr>
          <a:xfrm>
            <a:off x="6187440" y="2050085"/>
            <a:ext cx="2773680" cy="4992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Distribute via LINE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464808" y="2622499"/>
            <a:ext cx="2218944" cy="0"/>
          </a:xfrm>
          <a:prstGeom prst="line">
            <a:avLst/>
          </a:prstGeom>
          <a:noFill/>
          <a:ln w="12700">
            <a:solidFill>
              <a:srgbClr val="EDDFD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187440" y="2741371"/>
            <a:ext cx="2773680" cy="18306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Add to next weekly LINE broadcast. Automated email set up via GAS for incoming applications.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73736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Platform Rules to Communicate</a:t>
            </a:r>
            <a:endParaRPr lang="en-US" sz="3200" dirty="0"/>
          </a:p>
        </p:txBody>
      </p:sp>
      <p:pic>
        <p:nvPicPr>
          <p:cNvPr id="4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Response SLA — The 4-Business-Day Rule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1A0508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they DON'T respond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4864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Student is left waiting with no update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IB sends a reminder after 4 business days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Second reminder within 2 weeks if still no reply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Listing suspended if pattern continues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663440" y="1097280"/>
            <a:ext cx="4206240" cy="3474720"/>
          </a:xfrm>
          <a:prstGeom prst="rect">
            <a:avLst>
              <a:gd name="adj" fmla="val 2105"/>
            </a:avLst>
          </a:prstGeom>
          <a:solidFill>
            <a:srgbClr val="F9ECEC"/>
          </a:solidFill>
          <a:ln/>
        </p:spPr>
      </p:sp>
      <p:sp>
        <p:nvSpPr>
          <p:cNvPr id="13" name="Text 10"/>
          <p:cNvSpPr/>
          <p:nvPr/>
        </p:nvSpPr>
        <p:spPr>
          <a:xfrm>
            <a:off x="4937760" y="12801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they DO respond in time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937760" y="1828800"/>
            <a:ext cx="365760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Applicant gets a fast, professional experience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Higher chance of successful hire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Company builds a good reputation on IB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1A050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•  Listing stays active and continues to receive applicants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Listing Suspension Policy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1051560"/>
          <a:ext cx="8778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286000"/>
                <a:gridCol w="47548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Timing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Action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Details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29"/>
                    </a:solidFill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Day 4 (no response)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IB sends first reminder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Friendly follow-up to company contact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Day 14 (still no response)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IB sends second reminder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Escalation notice — listing at risk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Repeated non-response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Listing temporarily suspended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Removed from active distribution until resolved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55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BE1229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Pattern continues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0508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Listing removed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0A0F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Until company confirms commitment to SLA</a:t>
                      </a:r>
                      <a:endParaRPr lang="en-US" sz="10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D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Post-Listing Follow-up Cadence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2834640"/>
            <a:ext cx="8595360" cy="0"/>
          </a:xfrm>
          <a:prstGeom prst="line">
            <a:avLst/>
          </a:prstGeom>
          <a:noFill/>
          <a:ln w="25400">
            <a:solidFill>
              <a:srgbClr val="BE122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3901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1" name="Text 8"/>
          <p:cNvSpPr/>
          <p:nvPr/>
        </p:nvSpPr>
        <p:spPr>
          <a:xfrm>
            <a:off x="32004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1–4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2004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Wait for company response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004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Application delivered to company via automated email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338785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5" name="Text 12"/>
          <p:cNvSpPr/>
          <p:nvPr/>
        </p:nvSpPr>
        <p:spPr>
          <a:xfrm>
            <a:off x="246888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5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6888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Send reminder (if no reply)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46888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IB follows up with company contact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553669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19" name="Text 16"/>
          <p:cNvSpPr/>
          <p:nvPr/>
        </p:nvSpPr>
        <p:spPr>
          <a:xfrm>
            <a:off x="461772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 14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61772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Check selection status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61772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Update IB records — rejected / interview / offer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7685532" y="2724912"/>
            <a:ext cx="219456" cy="219456"/>
          </a:xfrm>
          <a:prstGeom prst="ellipse">
            <a:avLst/>
          </a:prstGeom>
          <a:solidFill>
            <a:srgbClr val="BE1229"/>
          </a:solidFill>
          <a:ln/>
        </p:spPr>
      </p:sp>
      <p:sp>
        <p:nvSpPr>
          <p:cNvPr id="23" name="Text 20"/>
          <p:cNvSpPr/>
          <p:nvPr/>
        </p:nvSpPr>
        <p:spPr>
          <a:xfrm>
            <a:off x="6766560" y="196596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E12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Monthly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66560" y="301752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Review listing activity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766560" y="3474720"/>
            <a:ext cx="20574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C4A0A0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position is still active and receiving applications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20624"/>
          </a:xfrm>
          <a:prstGeom prst="rect">
            <a:avLst/>
          </a:prstGeom>
          <a:solidFill>
            <a:srgbClr val="1A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02336"/>
            <a:ext cx="9144000" cy="457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36576"/>
            <a:ext cx="7498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Platform Rules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0" y="36576"/>
            <a:ext cx="685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5C0C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955280" y="4663440"/>
            <a:ext cx="1005840" cy="384048"/>
          </a:xfrm>
          <a:prstGeom prst="rect">
            <a:avLst/>
          </a:prstGeom>
          <a:solidFill>
            <a:srgbClr val="1A0508"/>
          </a:solidFill>
          <a:ln/>
        </p:spPr>
      </p:sp>
      <p:pic>
        <p:nvPicPr>
          <p:cNvPr id="7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3568" y="4681728"/>
            <a:ext cx="969264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74320" y="40233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050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Message Template — Confirm Listing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57200" y="10972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57200" y="1371600"/>
            <a:ext cx="5029200" cy="502920"/>
          </a:xfrm>
          <a:prstGeom prst="rect">
            <a:avLst>
              <a:gd name="adj" fmla="val 9091"/>
            </a:avLst>
          </a:prstGeom>
          <a:solidFill>
            <a:srgbClr val="FAF5F5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" y="13716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Hi [Name], thank you for partnering with JVA Internship Board!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657600" y="20116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657600" y="2286000"/>
            <a:ext cx="5029200" cy="502920"/>
          </a:xfrm>
          <a:prstGeom prst="rect">
            <a:avLst>
              <a:gd name="adj" fmla="val 9091"/>
            </a:avLst>
          </a:prstGeom>
          <a:solidFill>
            <a:srgbClr val="F9ECEC"/>
          </a:solidFill>
          <a:ln/>
        </p:spPr>
      </p:sp>
      <p:sp>
        <p:nvSpPr>
          <p:cNvPr id="14" name="Text 11"/>
          <p:cNvSpPr/>
          <p:nvPr/>
        </p:nvSpPr>
        <p:spPr>
          <a:xfrm>
            <a:off x="3794760" y="22860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You'll receive student applications via email as they come in. Please reply within 4 business days of receiving a CV.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29260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57200" y="3200400"/>
            <a:ext cx="5029200" cy="502920"/>
          </a:xfrm>
          <a:prstGeom prst="rect">
            <a:avLst>
              <a:gd name="adj" fmla="val 9091"/>
            </a:avLst>
          </a:prstGeom>
          <a:solidFill>
            <a:srgbClr val="FAF5F5"/>
          </a:solidFill>
          <a:ln/>
        </p:spPr>
      </p:sp>
      <p:sp>
        <p:nvSpPr>
          <p:cNvPr id="17" name="Text 14"/>
          <p:cNvSpPr/>
          <p:nvPr/>
        </p:nvSpPr>
        <p:spPr>
          <a:xfrm>
            <a:off x="594360" y="32004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If we don't hear back, we'll follow up with a quick reminder. We'll also check in periodically to track selection progress.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657600" y="3840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657600" y="4114800"/>
            <a:ext cx="5029200" cy="502920"/>
          </a:xfrm>
          <a:prstGeom prst="rect">
            <a:avLst>
              <a:gd name="adj" fmla="val 9091"/>
            </a:avLst>
          </a:prstGeom>
          <a:solidFill>
            <a:srgbClr val="F9ECEC"/>
          </a:solidFill>
          <a:ln/>
        </p:spPr>
      </p:sp>
      <p:sp>
        <p:nvSpPr>
          <p:cNvPr id="20" name="Text 17"/>
          <p:cNvSpPr/>
          <p:nvPr/>
        </p:nvSpPr>
        <p:spPr>
          <a:xfrm>
            <a:off x="3794760" y="41148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0A0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Looking forward to finding you a great intern! Feel free to reach out anytime.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BE122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find your next great intern.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C0C8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JVA IB Team</a:t>
            </a:r>
            <a:endParaRPr lang="en-US" sz="1400" dirty="0"/>
          </a:p>
        </p:txBody>
      </p:sp>
      <p:pic>
        <p:nvPicPr>
          <p:cNvPr id="6" name="Image 0" descr="/Users/sorasasaki/claude-workspace/skills/slides/assets/logo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3840" y="137160"/>
            <a:ext cx="1005840" cy="8046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JVA IB Team</dc:creator>
  <cp:lastModifiedBy>JVA IB Team</cp:lastModifiedBy>
  <cp:revision>1</cp:revision>
  <dcterms:created xsi:type="dcterms:W3CDTF">2026-03-13T02:46:02Z</dcterms:created>
  <dcterms:modified xsi:type="dcterms:W3CDTF">2026-03-13T02:46:02Z</dcterms:modified>
</cp:coreProperties>
</file>