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JVA Internship Board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Company Onboarding Guide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to partner with us and what to expect</a:t>
            </a:r>
            <a:endParaRPr lang="en-US" sz="1300" dirty="0"/>
          </a:p>
        </p:txBody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JVA IB?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371600" y="1371600"/>
            <a:ext cx="2560320" cy="2560320"/>
          </a:xfrm>
          <a:prstGeom prst="ellipse">
            <a:avLst/>
          </a:prstGeom>
          <a:solidFill>
            <a:srgbClr val="BE1229">
              <a:alpha val="80000"/>
            </a:srgbClr>
          </a:solidFill>
          <a:ln w="25400">
            <a:solidFill>
              <a:srgbClr val="BE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319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</a:t>
            </a:r>
            <a:endParaRPr lang="en-US" sz="4800" dirty="0"/>
          </a:p>
        </p:txBody>
      </p:sp>
      <p:sp>
        <p:nvSpPr>
          <p:cNvPr id="11" name="Shape 8"/>
          <p:cNvSpPr/>
          <p:nvPr/>
        </p:nvSpPr>
        <p:spPr>
          <a:xfrm>
            <a:off x="5029200" y="1371600"/>
            <a:ext cx="2560320" cy="2560320"/>
          </a:xfrm>
          <a:prstGeom prst="ellipse">
            <a:avLst/>
          </a:prstGeom>
          <a:solidFill>
            <a:srgbClr val="8C0D1E">
              <a:alpha val="80000"/>
            </a:srgbClr>
          </a:solidFill>
          <a:ln w="25400">
            <a:solidFill>
              <a:srgbClr val="8C0D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Flow — 7 Steps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5057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9" name="Text 6"/>
          <p:cNvSpPr/>
          <p:nvPr/>
        </p:nvSpPr>
        <p:spPr>
          <a:xfrm>
            <a:off x="75057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3461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054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7432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shows interest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220599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5" name="Text 12"/>
          <p:cNvSpPr/>
          <p:nvPr/>
        </p:nvSpPr>
        <p:spPr>
          <a:xfrm>
            <a:off x="220599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9003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0596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72974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a meeting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72974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366141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1" name="Text 18"/>
          <p:cNvSpPr/>
          <p:nvPr/>
        </p:nvSpPr>
        <p:spPr>
          <a:xfrm>
            <a:off x="366141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04545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6138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18516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 IB platform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18516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26" name="Shape 23"/>
          <p:cNvSpPr/>
          <p:nvPr/>
        </p:nvSpPr>
        <p:spPr>
          <a:xfrm>
            <a:off x="511683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7" name="Text 24"/>
          <p:cNvSpPr/>
          <p:nvPr/>
        </p:nvSpPr>
        <p:spPr>
          <a:xfrm>
            <a:off x="511683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50087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1680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4058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agrees to list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4058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657225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33" name="Text 30"/>
          <p:cNvSpPr/>
          <p:nvPr/>
        </p:nvSpPr>
        <p:spPr>
          <a:xfrm>
            <a:off x="657225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95629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7222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09600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 Job Card Form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09600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38" name="Shape 35"/>
          <p:cNvSpPr/>
          <p:nvPr/>
        </p:nvSpPr>
        <p:spPr>
          <a:xfrm>
            <a:off x="802767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39" name="Text 36"/>
          <p:cNvSpPr/>
          <p:nvPr/>
        </p:nvSpPr>
        <p:spPr>
          <a:xfrm>
            <a:off x="802767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55142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 creates Job Card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55142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Step-by-Step Guide</a:t>
            </a:r>
            <a:endParaRPr lang="en-US" sz="3200" dirty="0"/>
          </a:p>
        </p:txBody>
      </p:sp>
      <p:pic>
        <p:nvPicPr>
          <p:cNvPr id="4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Meeting — What to Cover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1148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 IB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Explain how the platform works — free listing, LINE distribution, global student pool.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8031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8031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6" name="Text 13"/>
          <p:cNvSpPr/>
          <p:nvPr/>
        </p:nvSpPr>
        <p:spPr>
          <a:xfrm>
            <a:off x="248031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261747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Profile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61747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English-focused, top universities, beginner Japanese. 46+ students registered.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8630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8630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1" name="Text 18"/>
          <p:cNvSpPr/>
          <p:nvPr/>
        </p:nvSpPr>
        <p:spPr>
          <a:xfrm>
            <a:off x="468630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82346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Realistic Requirements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2346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15–25h/week, N3 or lower Japanese, remote-friendly. Increases match rate significantly.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9229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9229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6" name="Text 23"/>
          <p:cNvSpPr/>
          <p:nvPr/>
        </p:nvSpPr>
        <p:spPr>
          <a:xfrm>
            <a:off x="689229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702945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Rules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02945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4-business-day response SLA. Get verbal agreement before moving to next step.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Job Card Form — Key Fields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Info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Company name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Contact person &amp; email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Position title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9184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0" y="169164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English level (Business / Native / Not required)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337560" y="2295144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2295144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Japanese level (N3+ / Not required)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337560" y="2898648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83280" y="2898648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Weekly hours (recommend 15–25h)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337560" y="3502152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83280" y="350215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Location (Remote / Hybrid / In-person)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337560" y="4105656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410565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Work authorization required?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 Details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21792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2648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936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Compensation (¥/h or monthly)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26364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936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Key responsibilities (3–5 bullets)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26364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Ideal candidate profile (2–3 sentences)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 for High Match Rate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Low Match Rate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High Match Rate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Weekly hours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35–40h/week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15–25h/week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Japanese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Business level required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N3 or lower / Not required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Location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Tokyo in-person only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Remote-friendly or Hybrid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Experience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2+ years required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Entry-level to intermediate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Job Card Creation &amp; Distribution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914400"/>
            <a:ext cx="268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EC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274320" y="1920240"/>
            <a:ext cx="268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Job Card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4320" y="2423160"/>
            <a:ext cx="2682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Job Card from form responses. Review for accuracy and match potential.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30880" y="914400"/>
            <a:ext cx="268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EC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3230880" y="1920240"/>
            <a:ext cx="268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&amp; Approve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30880" y="2423160"/>
            <a:ext cx="2682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Check requirements are realistic. Confirm company contact details are correct.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87440" y="914400"/>
            <a:ext cx="268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EC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5600" dirty="0"/>
          </a:p>
        </p:txBody>
      </p:sp>
      <p:sp>
        <p:nvSpPr>
          <p:cNvPr id="16" name="Text 13"/>
          <p:cNvSpPr/>
          <p:nvPr/>
        </p:nvSpPr>
        <p:spPr>
          <a:xfrm>
            <a:off x="6187440" y="1920240"/>
            <a:ext cx="268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Distribute via LINE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87440" y="2423160"/>
            <a:ext cx="2682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 to next weekly LINE broadcast. Automated email set up via GAS for incoming applications.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Rules to Communicate</a:t>
            </a:r>
            <a:endParaRPr lang="en-US" sz="3200" dirty="0"/>
          </a:p>
        </p:txBody>
      </p:sp>
      <p:pic>
        <p:nvPicPr>
          <p:cNvPr id="4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 SLA — The 4-Business-Day Rule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97280"/>
            <a:ext cx="4206240" cy="3474720"/>
          </a:xfrm>
          <a:prstGeom prst="rect">
            <a:avLst>
              <a:gd name="adj" fmla="val 2105"/>
            </a:avLst>
          </a:prstGeom>
          <a:solidFill>
            <a:srgbClr val="1A050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they DON'T respond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Student is left waiting with no update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IB sends a reminder after 4 business days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Second reminder within 2 weeks if still no reply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Listing suspended if pattern continues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097280"/>
            <a:ext cx="4206240" cy="3474720"/>
          </a:xfrm>
          <a:prstGeom prst="rect">
            <a:avLst>
              <a:gd name="adj" fmla="val 2105"/>
            </a:avLst>
          </a:prstGeom>
          <a:solidFill>
            <a:srgbClr val="F9ECEC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they DO respond in time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Applicant gets a fast, professional experience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Higher chance of successful hire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Company builds a good reputation on IB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Listing stays active and continues to receive applicants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Listing Suspension Policy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188720"/>
                <a:gridCol w="4389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フェーズ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期間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担当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実施内容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Post-Listing Follow-up Cadence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Template — Confirm Listing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1097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371600"/>
            <a:ext cx="5029200" cy="502920"/>
          </a:xfrm>
          <a:prstGeom prst="rect">
            <a:avLst>
              <a:gd name="adj" fmla="val 9091"/>
            </a:avLst>
          </a:prstGeom>
          <a:solidFill>
            <a:srgbClr val="FAF5F5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371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 [Name], thank you for partnering with JVA Internship Board!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0" y="2286000"/>
            <a:ext cx="5029200" cy="502920"/>
          </a:xfrm>
          <a:prstGeom prst="rect">
            <a:avLst>
              <a:gd name="adj" fmla="val 9091"/>
            </a:avLst>
          </a:prstGeom>
          <a:solidFill>
            <a:srgbClr val="F9ECEC"/>
          </a:solidFill>
          <a:ln/>
        </p:spPr>
      </p:sp>
      <p:sp>
        <p:nvSpPr>
          <p:cNvPr id="14" name="Text 11"/>
          <p:cNvSpPr/>
          <p:nvPr/>
        </p:nvSpPr>
        <p:spPr>
          <a:xfrm>
            <a:off x="3794760" y="2286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You'll receive student applications via email as they come in. Please reply within 4 business days of receiving a CV.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200400"/>
            <a:ext cx="5029200" cy="502920"/>
          </a:xfrm>
          <a:prstGeom prst="rect">
            <a:avLst>
              <a:gd name="adj" fmla="val 9091"/>
            </a:avLst>
          </a:prstGeom>
          <a:solidFill>
            <a:srgbClr val="FA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200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we don't hear back, we'll follow up with a quick reminder. We'll also check in periodically to track selection progress.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0" y="4114800"/>
            <a:ext cx="5029200" cy="502920"/>
          </a:xfrm>
          <a:prstGeom prst="rect">
            <a:avLst>
              <a:gd name="adj" fmla="val 9091"/>
            </a:avLst>
          </a:prstGeom>
          <a:solidFill>
            <a:srgbClr val="F9ECEC"/>
          </a:solidFill>
          <a:ln/>
        </p:spPr>
      </p:sp>
      <p:sp>
        <p:nvSpPr>
          <p:cNvPr id="20" name="Text 17"/>
          <p:cNvSpPr/>
          <p:nvPr/>
        </p:nvSpPr>
        <p:spPr>
          <a:xfrm>
            <a:off x="3794760" y="4114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Looking forward to finding you a great intern! Feel free to reach out anytime.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find your next great intern.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JVA IB Team</a:t>
            </a:r>
            <a:endParaRPr lang="en-US" sz="1400" dirty="0"/>
          </a:p>
        </p:txBody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JVA IB Team</dc:creator>
  <cp:lastModifiedBy>JVA IB Team</cp:lastModifiedBy>
  <cp:revision>1</cp:revision>
  <dcterms:created xsi:type="dcterms:W3CDTF">2026-03-13T02:31:34Z</dcterms:created>
  <dcterms:modified xsi:type="dcterms:W3CDTF">2026-03-13T02:31:34Z</dcterms:modified>
</cp:coreProperties>
</file>