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632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389120"/>
            <a:ext cx="9144000" cy="91440"/>
          </a:xfrm>
          <a:prstGeom prst="rect">
            <a:avLst/>
          </a:prstGeom>
          <a:solidFill>
            <a:srgbClr val="29B6F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097280"/>
            <a:ext cx="76809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JVA IB Weekly Review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283464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AECBF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Week 08 — Mar 3–9, 2026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347472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5757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Japan's Venture Academy · Internship Board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84048"/>
          </a:xfrm>
          <a:prstGeom prst="rect">
            <a:avLst/>
          </a:prstGeom>
          <a:solidFill>
            <a:srgbClr val="29B6F6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36576"/>
            <a:ext cx="7315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KPI Snapshot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8229600" y="36576"/>
            <a:ext cx="7315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74320" y="402336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1212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This Week's Numbers (W08)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274320" y="1645920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1565C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+10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274320" y="25603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75757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LINE New Students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75757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(Target: 16.7 / week)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200400" y="1645920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1565C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+2</a:t>
            </a:r>
            <a:endParaRPr lang="en-US" sz="5200" dirty="0"/>
          </a:p>
        </p:txBody>
      </p:sp>
      <p:sp>
        <p:nvSpPr>
          <p:cNvPr id="9" name="Text 7"/>
          <p:cNvSpPr/>
          <p:nvPr/>
        </p:nvSpPr>
        <p:spPr>
          <a:xfrm>
            <a:off x="3200400" y="25603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75757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Applications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75757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(Target: 8.3 / week)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126480" y="1645920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1565C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</a:t>
            </a:r>
            <a:endParaRPr lang="en-US" sz="5200" dirty="0"/>
          </a:p>
        </p:txBody>
      </p:sp>
      <p:sp>
        <p:nvSpPr>
          <p:cNvPr id="11" name="Text 9"/>
          <p:cNvSpPr/>
          <p:nvPr/>
        </p:nvSpPr>
        <p:spPr>
          <a:xfrm>
            <a:off x="6126480" y="25603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75757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Matches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75757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(Target: 5 / month) ⚠️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84048"/>
          </a:xfrm>
          <a:prstGeom prst="rect">
            <a:avLst/>
          </a:prstGeom>
          <a:solidFill>
            <a:srgbClr val="29B6F6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36576"/>
            <a:ext cx="7315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KPI Snapshot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8229600" y="36576"/>
            <a:ext cx="7315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74320" y="402336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1212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KPI vs. Monthly Target (March MTD)</a:t>
            </a:r>
            <a:endParaRPr lang="en-US" sz="2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097280"/>
          <a:ext cx="859536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3200400"/>
                <a:gridCol w="3200400"/>
              </a:tblGrid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46E7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Monthly Target</a:t>
                      </a:r>
                      <a:endParaRPr lang="en-US" sz="10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2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MTD Actual</a:t>
                      </a:r>
                      <a:endParaRPr lang="en-US" sz="10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B6F6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LINE New Students</a:t>
                      </a:r>
                      <a:endParaRPr lang="en-US" sz="10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46E7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16.7 / week</a:t>
                      </a:r>
                      <a:endParaRPr lang="en-US" sz="10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9B6F6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12 (72%)</a:t>
                      </a:r>
                      <a:endParaRPr lang="en-US" sz="10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Applications</a:t>
                      </a:r>
                      <a:endParaRPr lang="en-US" sz="10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46E7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8.3 / week</a:t>
                      </a:r>
                      <a:endParaRPr lang="en-US" sz="10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9B6F6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2 (24%)</a:t>
                      </a:r>
                      <a:endParaRPr lang="en-US" sz="10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Matches</a:t>
                      </a:r>
                      <a:endParaRPr lang="en-US" sz="10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46E7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5 / month</a:t>
                      </a:r>
                      <a:endParaRPr lang="en-US" sz="10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9B6F6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0 (0%) ❌</a:t>
                      </a:r>
                      <a:endParaRPr lang="en-US" sz="10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Job Cards</a:t>
                      </a:r>
                      <a:endParaRPr lang="en-US" sz="10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46E7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10 / month</a:t>
                      </a:r>
                      <a:endParaRPr lang="en-US" sz="10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9B6F6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~16 ✅</a:t>
                      </a:r>
                      <a:endParaRPr lang="en-US" sz="10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84048"/>
          </a:xfrm>
          <a:prstGeom prst="rect">
            <a:avLst/>
          </a:prstGeom>
          <a:solidFill>
            <a:srgbClr val="29B6F6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36576"/>
            <a:ext cx="7315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Funnel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8229600" y="36576"/>
            <a:ext cx="7315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74320" y="402336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1212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Application Funnel — Cumulative (as of W09)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1114425" y="1051560"/>
            <a:ext cx="365760" cy="365760"/>
          </a:xfrm>
          <a:prstGeom prst="ellipse">
            <a:avLst/>
          </a:prstGeom>
          <a:solidFill>
            <a:srgbClr val="29B6F6"/>
          </a:solidFill>
          <a:ln/>
        </p:spPr>
      </p:sp>
      <p:sp>
        <p:nvSpPr>
          <p:cNvPr id="7" name="Text 5"/>
          <p:cNvSpPr/>
          <p:nvPr/>
        </p:nvSpPr>
        <p:spPr>
          <a:xfrm>
            <a:off x="1114425" y="10515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1498473" y="1234440"/>
            <a:ext cx="1780794" cy="0"/>
          </a:xfrm>
          <a:prstGeom prst="line">
            <a:avLst/>
          </a:prstGeom>
          <a:noFill/>
          <a:ln w="19050">
            <a:solidFill>
              <a:srgbClr val="29B6F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142107" y="1124712"/>
            <a:ext cx="182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9B6F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▶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74320" y="1527048"/>
            <a:ext cx="204597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1212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LINE Registration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274320" y="2029968"/>
            <a:ext cx="2045970" cy="2377440"/>
          </a:xfrm>
          <a:prstGeom prst="roundRect">
            <a:avLst>
              <a:gd name="adj" fmla="val 2682"/>
            </a:avLst>
          </a:prstGeom>
          <a:solidFill>
            <a:srgbClr val="F5F7FA"/>
          </a:solidFill>
          <a:ln/>
        </p:spPr>
      </p:sp>
      <p:sp>
        <p:nvSpPr>
          <p:cNvPr id="12" name="Text 10"/>
          <p:cNvSpPr/>
          <p:nvPr/>
        </p:nvSpPr>
        <p:spPr>
          <a:xfrm>
            <a:off x="365760" y="2121408"/>
            <a:ext cx="186309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57 active students</a:t>
            </a:r>
            <a:endParaRPr lang="en-US" sz="100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(excl. 7 JBA members)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297555" y="1051560"/>
            <a:ext cx="365760" cy="365760"/>
          </a:xfrm>
          <a:prstGeom prst="ellipse">
            <a:avLst/>
          </a:prstGeom>
          <a:solidFill>
            <a:srgbClr val="29B6F6"/>
          </a:solidFill>
          <a:ln/>
        </p:spPr>
      </p:sp>
      <p:sp>
        <p:nvSpPr>
          <p:cNvPr id="14" name="Text 12"/>
          <p:cNvSpPr/>
          <p:nvPr/>
        </p:nvSpPr>
        <p:spPr>
          <a:xfrm>
            <a:off x="3297555" y="10515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3681603" y="1234440"/>
            <a:ext cx="1780794" cy="0"/>
          </a:xfrm>
          <a:prstGeom prst="line">
            <a:avLst/>
          </a:prstGeom>
          <a:noFill/>
          <a:ln w="19050">
            <a:solidFill>
              <a:srgbClr val="29B6F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325237" y="1124712"/>
            <a:ext cx="182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9B6F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▶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2457450" y="1527048"/>
            <a:ext cx="204597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1212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Application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2457450" y="2029968"/>
            <a:ext cx="2045970" cy="2377440"/>
          </a:xfrm>
          <a:prstGeom prst="roundRect">
            <a:avLst>
              <a:gd name="adj" fmla="val 2682"/>
            </a:avLst>
          </a:prstGeom>
          <a:solidFill>
            <a:srgbClr val="F5F7FA"/>
          </a:solidFill>
          <a:ln/>
        </p:spPr>
      </p:sp>
      <p:sp>
        <p:nvSpPr>
          <p:cNvPr id="19" name="Text 17"/>
          <p:cNvSpPr/>
          <p:nvPr/>
        </p:nvSpPr>
        <p:spPr>
          <a:xfrm>
            <a:off x="2548890" y="2121408"/>
            <a:ext cx="186309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23 total applications</a:t>
            </a:r>
            <a:endParaRPr lang="en-US" sz="100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Conversion: 39.0%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931795" y="4517136"/>
            <a:ext cx="1097280" cy="274320"/>
          </a:xfrm>
          <a:prstGeom prst="rect">
            <a:avLst>
              <a:gd name="adj" fmla="val 13333"/>
            </a:avLst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9B6F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39.0%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480685" y="1051560"/>
            <a:ext cx="365760" cy="365760"/>
          </a:xfrm>
          <a:prstGeom prst="ellipse">
            <a:avLst/>
          </a:prstGeom>
          <a:solidFill>
            <a:srgbClr val="29B6F6"/>
          </a:solidFill>
          <a:ln/>
        </p:spPr>
      </p:sp>
      <p:sp>
        <p:nvSpPr>
          <p:cNvPr id="22" name="Text 20"/>
          <p:cNvSpPr/>
          <p:nvPr/>
        </p:nvSpPr>
        <p:spPr>
          <a:xfrm>
            <a:off x="5480685" y="10515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5864733" y="1234440"/>
            <a:ext cx="1780794" cy="0"/>
          </a:xfrm>
          <a:prstGeom prst="line">
            <a:avLst/>
          </a:prstGeom>
          <a:noFill/>
          <a:ln w="19050">
            <a:solidFill>
              <a:srgbClr val="29B6F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508367" y="1124712"/>
            <a:ext cx="182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9B6F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▶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4640580" y="1527048"/>
            <a:ext cx="204597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1212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Interview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4640580" y="2029968"/>
            <a:ext cx="2045970" cy="2377440"/>
          </a:xfrm>
          <a:prstGeom prst="roundRect">
            <a:avLst>
              <a:gd name="adj" fmla="val 2682"/>
            </a:avLst>
          </a:prstGeom>
          <a:solidFill>
            <a:srgbClr val="F5F7FA"/>
          </a:solidFill>
          <a:ln/>
        </p:spPr>
      </p:sp>
      <p:sp>
        <p:nvSpPr>
          <p:cNvPr id="27" name="Text 25"/>
          <p:cNvSpPr/>
          <p:nvPr/>
        </p:nvSpPr>
        <p:spPr>
          <a:xfrm>
            <a:off x="4732020" y="2121408"/>
            <a:ext cx="186309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Pending — no match yet</a:t>
            </a:r>
            <a:endParaRPr lang="en-US" sz="100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Blocked at this stage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7663815" y="1051560"/>
            <a:ext cx="365760" cy="365760"/>
          </a:xfrm>
          <a:prstGeom prst="ellipse">
            <a:avLst/>
          </a:prstGeom>
          <a:solidFill>
            <a:srgbClr val="29B6F6"/>
          </a:solidFill>
          <a:ln/>
        </p:spPr>
      </p:sp>
      <p:sp>
        <p:nvSpPr>
          <p:cNvPr id="29" name="Text 27"/>
          <p:cNvSpPr/>
          <p:nvPr/>
        </p:nvSpPr>
        <p:spPr>
          <a:xfrm>
            <a:off x="7663815" y="10515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823710" y="1527048"/>
            <a:ext cx="204597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1212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Match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6823710" y="2029968"/>
            <a:ext cx="2045970" cy="2377440"/>
          </a:xfrm>
          <a:prstGeom prst="roundRect">
            <a:avLst>
              <a:gd name="adj" fmla="val 2682"/>
            </a:avLst>
          </a:prstGeom>
          <a:solidFill>
            <a:srgbClr val="F5F7FA"/>
          </a:solidFill>
          <a:ln/>
        </p:spPr>
      </p:sp>
      <p:sp>
        <p:nvSpPr>
          <p:cNvPr id="32" name="Text 30"/>
          <p:cNvSpPr/>
          <p:nvPr/>
        </p:nvSpPr>
        <p:spPr>
          <a:xfrm>
            <a:off x="6915150" y="2121408"/>
            <a:ext cx="186309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0 matches</a:t>
            </a:r>
            <a:endParaRPr lang="en-US" sz="100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Conversion: 0% ← Critical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7298055" y="4517136"/>
            <a:ext cx="1097280" cy="274320"/>
          </a:xfrm>
          <a:prstGeom prst="rect">
            <a:avLst>
              <a:gd name="adj" fmla="val 13333"/>
            </a:avLst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9B6F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0%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84048"/>
          </a:xfrm>
          <a:prstGeom prst="rect">
            <a:avLst/>
          </a:prstGeom>
          <a:solidFill>
            <a:srgbClr val="29B6F6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36576"/>
            <a:ext cx="7315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Focus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8229600" y="36576"/>
            <a:ext cx="7315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74320" y="402336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1212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This Week's Focus KPI: Match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57200" y="9144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23 applications have been submitted — the pipeline is filled.</a:t>
            </a:r>
            <a:endParaRPr lang="en-US" sz="1600" dirty="0"/>
          </a:p>
          <a:p>
            <a:pPr indent="0" marL="0">
              <a:lnSpc>
                <a:spcPct val="150000"/>
              </a:lnSpc>
              <a:buNone/>
            </a:pPr>
            <a:endParaRPr lang="en-US" sz="16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The bottleneck is not awareness or applications. It is the handoff between application and company interview.</a:t>
            </a:r>
            <a:endParaRPr lang="en-US" sz="1600" dirty="0"/>
          </a:p>
          <a:p>
            <a:pPr indent="0" marL="0">
              <a:lnSpc>
                <a:spcPct val="150000"/>
              </a:lnSpc>
              <a:buNone/>
            </a:pPr>
            <a:endParaRPr lang="en-US" sz="16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Key insight: Most applicants went to Jurin AI (attractive brand), but Jurin AI requires Business Japanese + 35h/week — almost no one qualifies.</a:t>
            </a:r>
            <a:endParaRPr lang="en-US" sz="1600" dirty="0"/>
          </a:p>
          <a:p>
            <a:pPr indent="0" marL="0">
              <a:lnSpc>
                <a:spcPct val="150000"/>
              </a:lnSpc>
              <a:buNone/>
            </a:pPr>
            <a:endParaRPr lang="en-US" sz="16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High-fit candidates (Jeongmin, Martin) are available now.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754880" y="914400"/>
            <a:ext cx="0" cy="320040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0" y="1371600"/>
            <a:ext cx="3657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600" b="1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</a:t>
            </a:r>
            <a:endParaRPr lang="en-US" sz="9600" dirty="0"/>
          </a:p>
        </p:txBody>
      </p:sp>
      <p:sp>
        <p:nvSpPr>
          <p:cNvPr id="9" name="Text 7"/>
          <p:cNvSpPr/>
          <p:nvPr/>
        </p:nvSpPr>
        <p:spPr>
          <a:xfrm>
            <a:off x="5029200" y="32004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75757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Matches so far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84048"/>
          </a:xfrm>
          <a:prstGeom prst="rect">
            <a:avLst/>
          </a:prstGeom>
          <a:solidFill>
            <a:srgbClr val="29B6F6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36576"/>
            <a:ext cx="7315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Action Plan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8229600" y="36576"/>
            <a:ext cx="7315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74320" y="402336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1212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W08–W09 Action Items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274320" y="1005840"/>
            <a:ext cx="2712720" cy="3474720"/>
          </a:xfrm>
          <a:prstGeom prst="rect">
            <a:avLst>
              <a:gd name="adj" fmla="val 2022"/>
            </a:avLst>
          </a:prstGeom>
          <a:solidFill>
            <a:srgbClr val="F5F7FA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1005840"/>
            <a:ext cx="2712720" cy="73152"/>
          </a:xfrm>
          <a:prstGeom prst="rect">
            <a:avLst>
              <a:gd name="adj" fmla="val 75000"/>
            </a:avLst>
          </a:prstGeom>
          <a:solidFill>
            <a:srgbClr val="29B6F6"/>
          </a:solidFill>
          <a:ln/>
        </p:spPr>
      </p:sp>
      <p:sp>
        <p:nvSpPr>
          <p:cNvPr id="8" name="Text 6"/>
          <p:cNvSpPr/>
          <p:nvPr/>
        </p:nvSpPr>
        <p:spPr>
          <a:xfrm>
            <a:off x="274320" y="1143000"/>
            <a:ext cx="2712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29B6F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01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411480" y="1828800"/>
            <a:ext cx="243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1212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Screen &amp; Recommend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11480" y="2377440"/>
            <a:ext cx="24384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Screen Jeongmin &amp; Martin → identify best-fit companies → send recommendations.</a:t>
            </a:r>
            <a:endParaRPr lang="en-US" sz="1000" dirty="0"/>
          </a:p>
          <a:p>
            <a:pPr algn="l" indent="0" marL="0">
              <a:lnSpc>
                <a:spcPct val="140000"/>
              </a:lnSpc>
              <a:buNone/>
            </a:pPr>
            <a:endParaRPr lang="en-US" sz="10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Goal: trigger first interview → first Match.</a:t>
            </a:r>
            <a:endParaRPr lang="en-US" sz="1000" dirty="0"/>
          </a:p>
          <a:p>
            <a:pPr algn="l" indent="0" marL="0">
              <a:lnSpc>
                <a:spcPct val="140000"/>
              </a:lnSpc>
              <a:buNone/>
            </a:pPr>
            <a:endParaRPr lang="en-US" sz="10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Owner: HR + Sales</a:t>
            </a:r>
            <a:endParaRPr lang="en-US" sz="10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Deadline: Mar 14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15640" y="1005840"/>
            <a:ext cx="2712720" cy="3474720"/>
          </a:xfrm>
          <a:prstGeom prst="rect">
            <a:avLst>
              <a:gd name="adj" fmla="val 2022"/>
            </a:avLst>
          </a:prstGeom>
          <a:solidFill>
            <a:srgbClr val="F5F7FA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15640" y="1005840"/>
            <a:ext cx="2712720" cy="73152"/>
          </a:xfrm>
          <a:prstGeom prst="rect">
            <a:avLst>
              <a:gd name="adj" fmla="val 75000"/>
            </a:avLst>
          </a:prstGeom>
          <a:solidFill>
            <a:srgbClr val="29B6F6"/>
          </a:solidFill>
          <a:ln/>
        </p:spPr>
      </p:sp>
      <p:sp>
        <p:nvSpPr>
          <p:cNvPr id="13" name="Text 11"/>
          <p:cNvSpPr/>
          <p:nvPr/>
        </p:nvSpPr>
        <p:spPr>
          <a:xfrm>
            <a:off x="3215640" y="1143000"/>
            <a:ext cx="2712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29B6F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02</a:t>
            </a:r>
            <a:endParaRPr lang="en-US" sz="4000" dirty="0"/>
          </a:p>
        </p:txBody>
      </p:sp>
      <p:sp>
        <p:nvSpPr>
          <p:cNvPr id="14" name="Text 12"/>
          <p:cNvSpPr/>
          <p:nvPr/>
        </p:nvSpPr>
        <p:spPr>
          <a:xfrm>
            <a:off x="3352800" y="1828800"/>
            <a:ext cx="243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1212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Confirm Job Card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352800" y="2377440"/>
            <a:ext cx="24384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Verify the manually added Job Card entry (company name + contact info) in the KPI sheet.</a:t>
            </a:r>
            <a:endParaRPr lang="en-US" sz="1000" dirty="0"/>
          </a:p>
          <a:p>
            <a:pPr algn="l" indent="0" marL="0">
              <a:lnSpc>
                <a:spcPct val="140000"/>
              </a:lnSpc>
              <a:buNone/>
            </a:pPr>
            <a:endParaRPr lang="en-US" sz="10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Goal: unblock company pipeline.</a:t>
            </a:r>
            <a:endParaRPr lang="en-US" sz="1000" dirty="0"/>
          </a:p>
          <a:p>
            <a:pPr algn="l" indent="0" marL="0">
              <a:lnSpc>
                <a:spcPct val="140000"/>
              </a:lnSpc>
              <a:buNone/>
            </a:pPr>
            <a:endParaRPr lang="en-US" sz="10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Owner: Sales</a:t>
            </a:r>
            <a:endParaRPr lang="en-US" sz="10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Deadline: Mar 13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156960" y="1005840"/>
            <a:ext cx="2712720" cy="3474720"/>
          </a:xfrm>
          <a:prstGeom prst="rect">
            <a:avLst>
              <a:gd name="adj" fmla="val 2022"/>
            </a:avLst>
          </a:prstGeom>
          <a:solidFill>
            <a:srgbClr val="F5F7FA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156960" y="1005840"/>
            <a:ext cx="2712720" cy="73152"/>
          </a:xfrm>
          <a:prstGeom prst="rect">
            <a:avLst>
              <a:gd name="adj" fmla="val 75000"/>
            </a:avLst>
          </a:prstGeom>
          <a:solidFill>
            <a:srgbClr val="29B6F6"/>
          </a:solidFill>
          <a:ln/>
        </p:spPr>
      </p:sp>
      <p:sp>
        <p:nvSpPr>
          <p:cNvPr id="18" name="Text 16"/>
          <p:cNvSpPr/>
          <p:nvPr/>
        </p:nvSpPr>
        <p:spPr>
          <a:xfrm>
            <a:off x="6156960" y="1143000"/>
            <a:ext cx="2712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29B6F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03</a:t>
            </a:r>
            <a:endParaRPr lang="en-US" sz="4000" dirty="0"/>
          </a:p>
        </p:txBody>
      </p:sp>
      <p:sp>
        <p:nvSpPr>
          <p:cNvPr id="19" name="Text 17"/>
          <p:cNvSpPr/>
          <p:nvPr/>
        </p:nvSpPr>
        <p:spPr>
          <a:xfrm>
            <a:off x="6294120" y="1828800"/>
            <a:ext cx="243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1212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Set Follow-up SLA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294120" y="2377440"/>
            <a:ext cx="24384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Define company follow-up cadence:</a:t>
            </a:r>
            <a:endParaRPr lang="en-US" sz="10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• 48h reply SLA</a:t>
            </a:r>
            <a:endParaRPr lang="en-US" sz="10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• 5-business-day reminder</a:t>
            </a:r>
            <a:endParaRPr lang="en-US" sz="1000" dirty="0"/>
          </a:p>
          <a:p>
            <a:pPr algn="l" indent="0" marL="0">
              <a:lnSpc>
                <a:spcPct val="140000"/>
              </a:lnSpc>
              <a:buNone/>
            </a:pPr>
            <a:endParaRPr lang="en-US" sz="10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Goal: reduce stalled applications.</a:t>
            </a:r>
            <a:endParaRPr lang="en-US" sz="1000" dirty="0"/>
          </a:p>
          <a:p>
            <a:pPr algn="l" indent="0" marL="0">
              <a:lnSpc>
                <a:spcPct val="140000"/>
              </a:lnSpc>
              <a:buNone/>
            </a:pPr>
            <a:endParaRPr lang="en-US" sz="10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Owner: PM + Sales</a:t>
            </a:r>
            <a:endParaRPr lang="en-US" sz="10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Deadline: Mar 15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632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389120"/>
            <a:ext cx="9144000" cy="91440"/>
          </a:xfrm>
          <a:prstGeom prst="rect">
            <a:avLst/>
          </a:prstGeom>
          <a:solidFill>
            <a:srgbClr val="29B6F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371600"/>
            <a:ext cx="76809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Let's get our first Match this week.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347472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ECBF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JVA Internship Board — W08 Review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JVA</dc:creator>
  <cp:lastModifiedBy>JVA</cp:lastModifiedBy>
  <cp:revision>1</cp:revision>
  <dcterms:created xsi:type="dcterms:W3CDTF">2026-03-12T06:41:07Z</dcterms:created>
  <dcterms:modified xsi:type="dcterms:W3CDTF">2026-03-12T06:41:07Z</dcterms:modified>
</cp:coreProperties>
</file>